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669280" cy="5669280"/>
          </a:xfrm>
          <a:prstGeom prst="ellipse">
            <a:avLst/>
          </a:prstGeom>
          <a:solidFill>
            <a:srgbClr val="3E276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ln w="19050">
            <a:solidFill>
              <a:srgbClr val="6C4C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ln w="19050">
            <a:solidFill>
              <a:srgbClr val="D98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640080"/>
            <a:ext cx="146304" cy="14630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1371600"/>
            <a:ext cx="91440" cy="91440"/>
          </a:xfrm>
          <a:prstGeom prst="ellipse">
            <a:avLst/>
          </a:prstGeom>
          <a:solidFill>
            <a:srgbClr val="CFC6E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033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 •  COURSE COMPLETION PRESENTATION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67004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Modern AI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Cisco Networking Academy course, offered by IILM University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AYUSH VERMA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2410030722   |   B.Tech Computer Science &amp;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LEARNING PROGRAM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Cisco Networking Academy Course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is a self-paced course offered by IILM University and delivered through the Cisco Networking Academy — built to give students a foundational, applied understanding of modern AI concepts.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015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88920"/>
            <a:ext cx="685800" cy="685800"/>
          </a:xfrm>
          <a:prstGeom prst="ellipse">
            <a:avLst/>
          </a:prstGeom>
          <a:solidFill>
            <a:srgbClr val="F4EFFB"/>
          </a:solidFill>
          <a:ln/>
        </p:spPr>
      </p:sp>
      <p:pic>
        <p:nvPicPr>
          <p:cNvPr id="7" name="Image 0" descr="/home/claude/ppt/icon_university_5B3A8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9672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6576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416052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institute for this B.Tech programme, providing access to industry-aligned learning platforms.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2468880"/>
            <a:ext cx="34015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2788920"/>
            <a:ext cx="685800" cy="685800"/>
          </a:xfrm>
          <a:prstGeom prst="ellipse">
            <a:avLst/>
          </a:prstGeom>
          <a:solidFill>
            <a:srgbClr val="F4EFFB"/>
          </a:solidFill>
          <a:ln/>
        </p:spPr>
      </p:sp>
      <p:pic>
        <p:nvPicPr>
          <p:cNvPr id="12" name="Image 1" descr="/home/claude/ppt/icon_network_5B3A8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9672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6576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Networking Academy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26864" y="416052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Cisco's global skills platform, delivering self-paced courses with interactive checkpoints and a verified certificate.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28432" y="2468880"/>
            <a:ext cx="340156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788920"/>
            <a:ext cx="685800" cy="685800"/>
          </a:xfrm>
          <a:prstGeom prst="ellipse">
            <a:avLst/>
          </a:prstGeom>
          <a:solidFill>
            <a:srgbClr val="F4EFFB"/>
          </a:solidFill>
          <a:ln/>
        </p:spPr>
      </p:sp>
      <p:pic>
        <p:nvPicPr>
          <p:cNvPr id="17" name="Image 2" descr="/home/claude/ppt/icon_bullseye_5B3A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29672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6576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the Course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21040" y="416052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foundational AI literacy — covering ML, computer vision, translation, chatbots and generative AI — with no prior technical background assumed.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Course Set Out to Teach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015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pic>
        <p:nvPicPr>
          <p:cNvPr id="6" name="Image 0" descr="/home/claude/ppt/icon_brain_D98A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ML &amp; Models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4688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three terms and how they relate to one another.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600200"/>
            <a:ext cx="34015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856232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pic>
        <p:nvPicPr>
          <p:cNvPr id="11" name="Image 1" descr="/home/claude/ppt/icon_eye_D98A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4376" y="18013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0288" y="24688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object detection, segmentation, similarity search and OCR.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28432" y="1600200"/>
            <a:ext cx="34015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4464" y="1856232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pic>
        <p:nvPicPr>
          <p:cNvPr id="16" name="Image 2" descr="/home/claude/ppt/icon_language_D98A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10" y="199887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8552" y="18013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84464" y="24688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word order, context and meaning interact.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566160"/>
            <a:ext cx="34015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822192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pic>
        <p:nvPicPr>
          <p:cNvPr id="21" name="Image 3" descr="/home/claude/ppt/icon_robot_D98A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396483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Behaviour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443484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response generation, hallucination and memory limits.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4256" y="3566160"/>
            <a:ext cx="34015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822192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pic>
        <p:nvPicPr>
          <p:cNvPr id="26" name="Image 4" descr="/home/claude/ppt/icon_edit_D98A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934" y="396483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4376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 Prompting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0288" y="443484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techniques for writing and verifying chatbot output.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28432" y="3566160"/>
            <a:ext cx="34015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4464" y="3822192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pic>
        <p:nvPicPr>
          <p:cNvPr id="31" name="Image 5" descr="/home/claude/ppt/icon_magic_D98A2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110" y="396483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8552" y="376732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&amp; Multimodal AI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84464" y="443484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image generation and combined image-text prompting.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Intelligence, Machine Learning &amp;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3383280"/>
          </a:xfrm>
          <a:prstGeom prst="roundRect">
            <a:avLst>
              <a:gd name="adj" fmla="val 4324"/>
            </a:avLst>
          </a:prstGeom>
          <a:solidFill>
            <a:srgbClr val="F4EFFB"/>
          </a:solidFill>
          <a:ln w="12700">
            <a:solidFill>
              <a:srgbClr val="5B3A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goal: systems that behave intelligently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9418320" cy="2148840"/>
          </a:xfrm>
          <a:prstGeom prst="roundRect">
            <a:avLst>
              <a:gd name="adj" fmla="val 6809"/>
            </a:avLst>
          </a:prstGeom>
          <a:solidFill>
            <a:srgbClr val="E7F0F2"/>
          </a:solidFill>
          <a:ln w="12700">
            <a:solidFill>
              <a:srgbClr val="3E5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3502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approach: learning patterns from data, not fixed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3931920"/>
            <a:ext cx="8321040" cy="1005840"/>
          </a:xfrm>
          <a:prstGeom prst="roundRect">
            <a:avLst>
              <a:gd name="adj" fmla="val 14545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40280" y="4416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artefact that turns an input into a prediction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explored these ideas conceptually — it did not involve training a model from scratch.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WITH 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7F0F2"/>
          </a:solidFill>
          <a:ln w="12700">
            <a:solidFill>
              <a:srgbClr val="C7DBE0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621792" cy="621792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6" name="Image 0" descr="/home/claude/ppt/icon_cr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066" y="2054474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1965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and labels objects within a scene.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13639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retail shelf monitoring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60020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7F0F2"/>
          </a:solidFill>
          <a:ln w="12700">
            <a:solidFill>
              <a:srgbClr val="C7DBE0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892808"/>
            <a:ext cx="621792" cy="621792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12" name="Image 1" descr="/home/claude/ppt/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746" y="2054474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1965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Search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355080" y="26060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visually related images in a collection.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355080" y="313639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visual product search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8404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7F0F2"/>
          </a:solidFill>
          <a:ln w="12700">
            <a:solidFill>
              <a:srgbClr val="C7DBE0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133088"/>
            <a:ext cx="621792" cy="621792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18" name="Image 2" descr="/home/claude/ppt/icon_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4294754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0599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Segmentation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14400" y="48463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every pixel by region or object class.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53766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medical image analysis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080760" y="38404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7F0F2"/>
          </a:solidFill>
          <a:ln w="12700">
            <a:solidFill>
              <a:srgbClr val="C7DBE0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4133088"/>
            <a:ext cx="621792" cy="621792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24" name="Image 3" descr="/home/claude/ppt/icon_filea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746" y="4294754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40599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Character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(OCR)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355080" y="48463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pictured text into machine-readable data.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55080" y="53766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document digitisation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LANGUAGE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7F0F2"/>
          </a:solidFill>
          <a:ln w="12700">
            <a:solidFill>
              <a:srgbClr val="3E5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tokens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19659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7F0F2"/>
          </a:solidFill>
          <a:ln w="12700">
            <a:solidFill>
              <a:srgbClr val="3E5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Order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sequence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19659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7F0F2"/>
          </a:solidFill>
          <a:ln w="12700">
            <a:solidFill>
              <a:srgbClr val="3E5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ambiguity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2396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A8E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326880" y="19659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C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kept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840480"/>
            <a:ext cx="10515600" cy="1417320"/>
          </a:xfrm>
          <a:prstGeom prst="roundRect">
            <a:avLst>
              <a:gd name="adj" fmla="val 7742"/>
            </a:avLst>
          </a:prstGeom>
          <a:solidFill>
            <a:srgbClr val="F4EFFB"/>
          </a:solidFill>
          <a:ln w="12700">
            <a:solidFill>
              <a:srgbClr val="5B3A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050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Context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36168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“bank” can mean a riverbank or a financial institution — only the surrounding sentence tells a translation system which meaning to preserve.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Chatbots: Capabilities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5B3A8E"/>
          </a:solidFill>
          <a:ln w="12700">
            <a:solidFill>
              <a:srgbClr val="5B3A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Predicts the most likely next word to form fluent responses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227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Answers questions, drafts and rewrites content on 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9410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Adapts across a wide range of everyday and professional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6542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Improves with clear, specific, well-structured prompts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62472" y="169164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8A5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2512" y="2514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 hallucinate — stating confident but incorrect claims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2512" y="3227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Limited working memory across long or separate sessions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2512" y="39410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Reliability varies by chatbot and by task difficulty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46542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 should be tested and verified before it is relied 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74436" y="1371600"/>
            <a:ext cx="640080" cy="640080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7" name="Image 0" descr="/home/claude/ppt/icon_balanc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857" y="1538021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RESPONSIBLY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to Use a Chatbot Effectively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1874520"/>
            <a:ext cx="640080" cy="640080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6" name="Image 0" descr="/home/claude/ppt/icon_exchan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157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ideas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34640" y="160020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11296" y="1874520"/>
            <a:ext cx="640080" cy="640080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12" name="Image 1" descr="/home/claude/ppt/icon_li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717" y="20409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2651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71800" y="3200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971800" y="37033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lists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0" y="160020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05856" y="1874520"/>
            <a:ext cx="640080" cy="640080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18" name="Image 2" descr="/home/claude/ppt/icon_edi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277" y="20409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2651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66360" y="3200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166360" y="37033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&amp; revise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223760" y="160020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00416" y="1874520"/>
            <a:ext cx="640080" cy="640080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24" name="Image 3" descr="/home/claude/ppt/icon_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837" y="204094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2651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60920" y="3200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360920" y="37033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score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418320" y="1600200"/>
            <a:ext cx="1993392" cy="33832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094976" y="1874520"/>
            <a:ext cx="640080" cy="640080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30" name="Image 4" descr="/home/claude/ppt/icon_commentdot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1397" y="204094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09760" y="2651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555480" y="3200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555480" y="37033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Prompting, Tools &amp; Multimodal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45336" y="1828800"/>
            <a:ext cx="1417320" cy="1417320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5" name="Text 3"/>
          <p:cNvSpPr/>
          <p:nvPr/>
        </p:nvSpPr>
        <p:spPr>
          <a:xfrm>
            <a:off x="1545336" y="23362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62656" y="23088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2760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65576" y="1828800"/>
            <a:ext cx="1417320" cy="1417320"/>
          </a:xfrm>
          <a:prstGeom prst="ellipse">
            <a:avLst/>
          </a:prstGeom>
          <a:solidFill>
            <a:srgbClr val="3E5C6B"/>
          </a:solidFill>
          <a:ln/>
        </p:spPr>
      </p:sp>
      <p:sp>
        <p:nvSpPr>
          <p:cNvPr id="8" name="Text 6"/>
          <p:cNvSpPr/>
          <p:nvPr/>
        </p:nvSpPr>
        <p:spPr>
          <a:xfrm>
            <a:off x="3465576" y="23362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Output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82896" y="23088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276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385816" y="1828800"/>
            <a:ext cx="1417320" cy="1417320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11" name="Text 9"/>
          <p:cNvSpPr/>
          <p:nvPr/>
        </p:nvSpPr>
        <p:spPr>
          <a:xfrm>
            <a:off x="5385816" y="23362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03136" y="23088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276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06056" y="1828800"/>
            <a:ext cx="1417320" cy="1417320"/>
          </a:xfrm>
          <a:prstGeom prst="ellipse">
            <a:avLst/>
          </a:prstGeom>
          <a:solidFill>
            <a:srgbClr val="3E5C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06056" y="23362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23376" y="23088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276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226296" y="1828800"/>
            <a:ext cx="1417320" cy="141732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26296" y="23362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45336" y="3383280"/>
            <a:ext cx="9098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result is unclear, loop back and refine the prompt.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01568" cy="1417320"/>
          </a:xfrm>
          <a:prstGeom prst="roundRect">
            <a:avLst>
              <a:gd name="adj" fmla="val 7742"/>
            </a:avLst>
          </a:prstGeom>
          <a:solidFill>
            <a:srgbClr val="E7F0F2"/>
          </a:solidFill>
          <a:ln w="12700">
            <a:solidFill>
              <a:srgbClr val="C7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050792"/>
            <a:ext cx="502920" cy="502920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21" name="Image 0" descr="/home/claude/ppt/icon_im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" y="4181551"/>
            <a:ext cx="241402" cy="24140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63040" y="39776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Generation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41248" y="45720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new images from a written description.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34256" y="3794760"/>
            <a:ext cx="3401568" cy="1417320"/>
          </a:xfrm>
          <a:prstGeom prst="roundRect">
            <a:avLst>
              <a:gd name="adj" fmla="val 7742"/>
            </a:avLst>
          </a:prstGeom>
          <a:solidFill>
            <a:srgbClr val="E7F0F2"/>
          </a:solidFill>
          <a:ln w="12700">
            <a:solidFill>
              <a:srgbClr val="C7DB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35424" y="4050792"/>
            <a:ext cx="502920" cy="502920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26" name="Image 1" descr="/home/claude/ppt/icon_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83" y="4181551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57216" y="39776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Assistant Use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35424" y="45720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help — drafting, planning, organising.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028432" y="3794760"/>
            <a:ext cx="3401568" cy="1417320"/>
          </a:xfrm>
          <a:prstGeom prst="roundRect">
            <a:avLst>
              <a:gd name="adj" fmla="val 7742"/>
            </a:avLst>
          </a:prstGeom>
          <a:solidFill>
            <a:srgbClr val="E7F0F2"/>
          </a:solidFill>
          <a:ln w="12700">
            <a:solidFill>
              <a:srgbClr val="C7DBE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9600" y="4050792"/>
            <a:ext cx="502920" cy="502920"/>
          </a:xfrm>
          <a:prstGeom prst="ellipse">
            <a:avLst/>
          </a:prstGeom>
          <a:solidFill>
            <a:srgbClr val="3E5C6B"/>
          </a:solidFill>
          <a:ln/>
        </p:spPr>
      </p:sp>
      <p:pic>
        <p:nvPicPr>
          <p:cNvPr id="31" name="Image 2" descr="/home/claude/ppt/icon_magic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4181551"/>
            <a:ext cx="241402" cy="24140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851392" y="39776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Prompting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229600" y="45720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an image with text in a single prompt.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40080" y="5440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reflects responsible, AI-assisted usage explored in the course — not a system I built.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&amp; Skill Stacking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4EFFB"/>
          </a:solidFill>
          <a:ln w="12700">
            <a:solidFill>
              <a:srgbClr val="5B3A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6" name="Image 0" descr="/home/claude/ppt/icon_magi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&amp; Multimodal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produces new content — text, images, audio or code — rather than only analysing existing content. Multimodal prompting extends this further: combining an image and text in one prompt, and receiving a response that draws on both.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are one text-based application of this broader generative category.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46520" y="1691640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/icon_puzzle_D98A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81" y="21781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Stacking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66560" y="29718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C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AI literacy with an existing domain skill — writing, design, engineering, analysis — produces more value than either skill alone.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766560" y="42976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an amplifier — not a replacement — for what you already know.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GAINED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0492" y="187452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6" name="Image 0" descr="/home/claude/ppt/icon_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648" y="202667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AI literacy across core Modern AI concepts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6459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93692" y="187452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10" name="Image 1" descr="/home/claude/ppt/icon_networ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848" y="2026676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26060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how ML and trained models relate to AI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6459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6892" y="187452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14" name="Image 2" descr="/home/claude/ppt/icon_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048" y="2026676"/>
            <a:ext cx="280904" cy="280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91072" y="26060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computer vision tasks and real-world uses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869680" y="164592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880092" y="187452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18" name="Image 3" descr="/home/claude/ppt/icon_langua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248" y="2026676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34272" y="260604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the challenges in machine translation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8404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50492" y="406908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22" name="Image 4" descr="/home/claude/ppt/icon_robo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648" y="4221236"/>
            <a:ext cx="280904" cy="2809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672" y="48006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into chatbot behaviour, memory and hallucination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83280" y="38404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393692" y="406908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26" name="Image 5" descr="/home/claude/ppt/icon_edi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848" y="4221236"/>
            <a:ext cx="280904" cy="2809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47872" y="48006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prompt-writing and output-verification habits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126480" y="38404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136892" y="406908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30" name="Image 6" descr="/home/claude/ppt/icon_magic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9048" y="4221236"/>
            <a:ext cx="280904" cy="2809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91072" y="48006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generative and multimodal AI capabilities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869680" y="38404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4DCF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56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880092" y="4069080"/>
            <a:ext cx="585216" cy="585216"/>
          </a:xfrm>
          <a:prstGeom prst="ellipse">
            <a:avLst/>
          </a:prstGeom>
          <a:solidFill>
            <a:srgbClr val="5B3A8E"/>
          </a:solidFill>
          <a:ln/>
        </p:spPr>
      </p:sp>
      <p:pic>
        <p:nvPicPr>
          <p:cNvPr id="34" name="Image 7" descr="/home/claude/ppt/icon_puzzl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2248" y="4221236"/>
            <a:ext cx="280904" cy="2809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34272" y="48006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broader view of AI-assisted, skill-stacked workflows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669280" cy="5669280"/>
          </a:xfrm>
          <a:prstGeom prst="ellipse">
            <a:avLst/>
          </a:prstGeom>
          <a:solidFill>
            <a:srgbClr val="3E276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3291840" cy="3291840"/>
          </a:xfrm>
          <a:prstGeom prst="ellipse">
            <a:avLst/>
          </a:prstGeom>
          <a:ln w="19050">
            <a:solidFill>
              <a:srgbClr val="D9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Foundation in Modern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built a working, applied understanding of AI, ML, computer vision, translation, chatbots and generative AI — without requiring a prior technical background.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5B3A8E"/>
          </a:solidFill>
          <a:ln w="12700">
            <a:solidFill>
              <a:srgbClr val="5B3A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“Treat AI tools as capable but fallible assistants — review, verify, and refine, rather than accept automatically.”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|  Cisco Networking Academy Program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685800"/>
            <a:ext cx="4846320" cy="54406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25400">
            <a:solidFill>
              <a:srgbClr val="D98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914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200" dirty="0"/>
          </a:p>
        </p:txBody>
      </p:sp>
      <p:pic>
        <p:nvPicPr>
          <p:cNvPr id="13" name="Image 0" descr="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280160"/>
            <a:ext cx="4297680" cy="29241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95160" y="4387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49640" y="438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Verma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95160" y="4679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49640" y="4679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June 2026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995160" y="4972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549640" y="497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1e4d1876-2597-4c42-a31f-a2f963147cf7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9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Modern AI  •  Ayush Verma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9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2026-08-30T12:28:35Z</dcterms:created>
  <dcterms:modified xsi:type="dcterms:W3CDTF">2026-08-30T12:28:35Z</dcterms:modified>
</cp:coreProperties>
</file>